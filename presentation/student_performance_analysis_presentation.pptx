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95" autoAdjust="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216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515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Aptos"/>
              </a:defRPr>
            </a:pPr>
            <a:r>
              <a:rPr dirty="0"/>
              <a:t>STUDENT PERFORMANCE ANALYSIS</a:t>
            </a:r>
          </a:p>
          <a:p>
            <a:pPr>
              <a:spcBef>
                <a:spcPts val="800"/>
              </a:spcBef>
              <a:defRPr sz="2200">
                <a:solidFill>
                  <a:srgbClr val="B9D7F6"/>
                </a:solidFill>
                <a:latin typeface="Aptos"/>
              </a:defRPr>
            </a:pPr>
            <a:r>
              <a:rPr dirty="0"/>
              <a:t>Data Analysis Internship </a:t>
            </a:r>
            <a:r>
              <a:rPr lang="en-US" dirty="0" smtClean="0"/>
              <a:t>Week 1 </a:t>
            </a:r>
            <a:r>
              <a:rPr dirty="0" smtClean="0"/>
              <a:t>Project </a:t>
            </a:r>
            <a:r>
              <a:rPr dirty="0"/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788920"/>
            <a:ext cx="97840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>
                <a:solidFill>
                  <a:srgbClr val="FFFFFF"/>
                </a:solidFill>
                <a:latin typeface="Aptos"/>
              </a:defRPr>
            </a:pPr>
            <a:r>
              <a:t>Turning student data into practical insights</a:t>
            </a:r>
          </a:p>
          <a:p>
            <a:pPr>
              <a:spcBef>
                <a:spcPts val="800"/>
              </a:spcBef>
              <a:defRPr sz="1400">
                <a:solidFill>
                  <a:srgbClr val="B4C4D6"/>
                </a:solidFill>
                <a:latin typeface="Aptos"/>
              </a:defRPr>
            </a:pPr>
            <a:r>
              <a:t>Power Query • Power BI • Data Storytelling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748" y="5876745"/>
            <a:ext cx="3017520" cy="566928"/>
          </a:xfrm>
          <a:prstGeom prst="round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628" y="6023049"/>
            <a:ext cx="2651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t>SYNTECXHUB INTERNSHIP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68680"/>
            <a:ext cx="1069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86370"/>
                </a:solidFill>
                <a:latin typeface="Aptos"/>
              </a:defRPr>
            </a:pPr>
            <a:r>
              <a:t>What this analysis set out to understand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65760"/>
            <a:ext cx="594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86370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3474720" cy="1828800"/>
          </a:xfrm>
          <a:prstGeom prst="roundRect">
            <a:avLst/>
          </a:prstGeom>
          <a:solidFill>
            <a:srgbClr val="E8F2FC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64008" cy="18288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435607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PROJECT GOAL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Understand student academic performance and identify patterns across subjects and student groups.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325880"/>
            <a:ext cx="3474720" cy="1828800"/>
          </a:xfrm>
          <a:prstGeom prst="roundRect">
            <a:avLst/>
          </a:prstGeom>
          <a:solidFill>
            <a:srgbClr val="E6F7F3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64008" cy="1828800"/>
          </a:xfrm>
          <a:prstGeom prst="rect">
            <a:avLst/>
          </a:prstGeom>
          <a:solidFill>
            <a:srgbClr val="2696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07992" y="1435607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TOOLS USED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Excel Power Query for cleaning and Power BI for analysis, DAX measures, visuals and interactive reporting.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325880"/>
            <a:ext cx="3474720" cy="1828800"/>
          </a:xfrm>
          <a:prstGeom prst="roundRect">
            <a:avLst/>
          </a:prstGeom>
          <a:solidFill>
            <a:srgbClr val="F1EDFA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92440" y="1325880"/>
            <a:ext cx="64008" cy="1828800"/>
          </a:xfrm>
          <a:prstGeom prst="rect">
            <a:avLst/>
          </a:prstGeom>
          <a:solidFill>
            <a:srgbClr val="745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7031" y="1435607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MAIN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1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A three-page Power BI dashboard covering overview, performance factors, and key insights with recommendations.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566160"/>
            <a:ext cx="2743200" cy="384048"/>
          </a:xfrm>
          <a:prstGeom prst="roundRect">
            <a:avLst/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4088" y="3621024"/>
            <a:ext cx="252374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Questions behind the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069080"/>
            <a:ext cx="10332720" cy="192024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222831"/>
                </a:solidFill>
                <a:latin typeface="Aptos"/>
              </a:defRPr>
            </a:pPr>
            <a:r>
              <a:t>• Which subject has the strongest average performance?</a:t>
            </a:r>
          </a:p>
          <a:p>
            <a:pPr>
              <a:spcAft>
                <a:spcPts val="700"/>
              </a:spcAft>
              <a:defRPr sz="1500">
                <a:solidFill>
                  <a:srgbClr val="222831"/>
                </a:solidFill>
                <a:latin typeface="Aptos"/>
              </a:defRPr>
            </a:pPr>
            <a:r>
              <a:t>• How are students distributed across performance categories?</a:t>
            </a:r>
          </a:p>
          <a:p>
            <a:pPr>
              <a:spcAft>
                <a:spcPts val="700"/>
              </a:spcAft>
              <a:defRPr sz="1500">
                <a:solidFill>
                  <a:srgbClr val="222831"/>
                </a:solidFill>
                <a:latin typeface="Aptos"/>
              </a:defRPr>
            </a:pPr>
            <a:r>
              <a:t>• Do performance levels differ by gender?</a:t>
            </a:r>
          </a:p>
          <a:p>
            <a:pPr>
              <a:spcAft>
                <a:spcPts val="700"/>
              </a:spcAft>
              <a:defRPr sz="1500">
                <a:solidFill>
                  <a:srgbClr val="222831"/>
                </a:solidFill>
                <a:latin typeface="Aptos"/>
              </a:defRPr>
            </a:pPr>
            <a:r>
              <a:t>• What patterns appear across test preparation, lunch type, parental education and race/ethnicity?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528816"/>
            <a:ext cx="11155680" cy="9144"/>
          </a:xfrm>
          <a:prstGeom prst="rect">
            <a:avLst/>
          </a:prstGeom>
          <a:solidFill>
            <a:srgbClr val="DE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30352" y="6565392"/>
            <a:ext cx="8961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86370"/>
                </a:solidFill>
                <a:latin typeface="Aptos"/>
              </a:defRPr>
            </a:pPr>
            <a:r>
              <a:t>Student Performance Analysis • Syntecxhub Data Analysis Internship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t>Data Preparation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68680"/>
            <a:ext cx="1069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86370"/>
                </a:solidFill>
                <a:latin typeface="Aptos"/>
              </a:defRPr>
            </a:pPr>
            <a:r>
              <a:t>Cleaning was completed before the Power BI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65760"/>
            <a:ext cx="594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86370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2011680" cy="384048"/>
          </a:xfrm>
          <a:prstGeom prst="roundRect">
            <a:avLst/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1289304"/>
            <a:ext cx="179222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Cleaning workflow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1783080"/>
            <a:ext cx="438912" cy="438912"/>
          </a:xfrm>
          <a:prstGeom prst="ellipse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1856231"/>
            <a:ext cx="43891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764792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72040"/>
                </a:solidFill>
                <a:latin typeface="Aptos"/>
              </a:defRPr>
            </a:pPr>
            <a:r>
              <a:t>Import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1764792"/>
            <a:ext cx="7498079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22831"/>
                </a:solidFill>
                <a:latin typeface="Aptos"/>
              </a:defRPr>
            </a:pPr>
            <a:r>
              <a:t>Loaded the student performance CSV into Power Query.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2651760"/>
            <a:ext cx="438912" cy="438912"/>
          </a:xfrm>
          <a:prstGeom prst="ellipse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2724912"/>
            <a:ext cx="43891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633472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72040"/>
                </a:solidFill>
                <a:latin typeface="Aptos"/>
              </a:defRPr>
            </a:pPr>
            <a:r>
              <a:t>Quality checks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633472"/>
            <a:ext cx="7498079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22831"/>
                </a:solidFill>
                <a:latin typeface="Aptos"/>
              </a:defRPr>
            </a:pPr>
            <a:r>
              <a:t>Checked data types, missing values, text consistency and score fields.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520439"/>
            <a:ext cx="438912" cy="438912"/>
          </a:xfrm>
          <a:prstGeom prst="ellipse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3593591"/>
            <a:ext cx="43891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502151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72040"/>
                </a:solidFill>
                <a:latin typeface="Aptos"/>
              </a:defRPr>
            </a:pPr>
            <a:r>
              <a:t>Duplicate removal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3502151"/>
            <a:ext cx="7498079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22831"/>
                </a:solidFill>
                <a:latin typeface="Aptos"/>
              </a:defRPr>
            </a:pPr>
            <a:r>
              <a:t>Removed the duplicate record; the cleaned dataset contains 999 students.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4389120"/>
            <a:ext cx="438912" cy="438912"/>
          </a:xfrm>
          <a:prstGeom prst="ellipse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4462272"/>
            <a:ext cx="43891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370832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72040"/>
                </a:solidFill>
                <a:latin typeface="Aptos"/>
              </a:defRPr>
            </a:pPr>
            <a:r>
              <a:t>Calculated fields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370832"/>
            <a:ext cx="7498079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22831"/>
                </a:solidFill>
                <a:latin typeface="Aptos"/>
              </a:defRPr>
            </a:pPr>
            <a:r>
              <a:t>Prepared Average Score and Performance Category for analysis.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5257800"/>
            <a:ext cx="438912" cy="438912"/>
          </a:xfrm>
          <a:prstGeom prst="ellipse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5330952"/>
            <a:ext cx="43891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5239512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72040"/>
                </a:solidFill>
                <a:latin typeface="Aptos"/>
              </a:defRPr>
            </a:pPr>
            <a:r>
              <a:t>Load to Power BI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5239512"/>
            <a:ext cx="7498079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22831"/>
                </a:solidFill>
                <a:latin typeface="Aptos"/>
              </a:defRPr>
            </a:pPr>
            <a:r>
              <a:t>Loaded the cleaned table for DAX calculations and dashboard visuals.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6528816"/>
            <a:ext cx="11155680" cy="9144"/>
          </a:xfrm>
          <a:prstGeom prst="rect">
            <a:avLst/>
          </a:prstGeom>
          <a:solidFill>
            <a:srgbClr val="DE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30352" y="6565392"/>
            <a:ext cx="8961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86370"/>
                </a:solidFill>
                <a:latin typeface="Aptos"/>
              </a:defRPr>
            </a:pPr>
            <a:r>
              <a:t>Student Performance Analysis • Syntecxhub Data Analysis Internship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t>What the Dashboard Measures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68680"/>
            <a:ext cx="1069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86370"/>
                </a:solidFill>
                <a:latin typeface="Aptos"/>
              </a:defRPr>
            </a:pPr>
            <a:r>
              <a:t>The analysis focuses on the fields available in the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65760"/>
            <a:ext cx="594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86370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2011680" cy="384048"/>
          </a:xfrm>
          <a:prstGeom prst="roundRect">
            <a:avLst/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1289304"/>
            <a:ext cx="179222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Performance measures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560320" cy="1325880"/>
          </a:xfrm>
          <a:prstGeom prst="roundRect">
            <a:avLst/>
          </a:prstGeom>
          <a:solidFill>
            <a:srgbClr val="E8F2FC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64008" cy="132588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1" y="1847088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MATH 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26974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rPr dirty="0"/>
              <a:t>Individual student math result.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1737360"/>
            <a:ext cx="2560320" cy="1325880"/>
          </a:xfrm>
          <a:prstGeom prst="roundRect">
            <a:avLst/>
          </a:prstGeom>
          <a:solidFill>
            <a:srgbClr val="E6F7F3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429000" y="1737360"/>
            <a:ext cx="64008" cy="1325880"/>
          </a:xfrm>
          <a:prstGeom prst="rect">
            <a:avLst/>
          </a:prstGeom>
          <a:solidFill>
            <a:srgbClr val="2696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93592" y="1847088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READING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5888" y="2606041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rPr dirty="0"/>
              <a:t>Individual student reading result.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737360"/>
            <a:ext cx="2560320" cy="1325880"/>
          </a:xfrm>
          <a:prstGeom prst="roundRect">
            <a:avLst/>
          </a:prstGeom>
          <a:solidFill>
            <a:srgbClr val="F1EDFA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17920" y="1737360"/>
            <a:ext cx="64008" cy="1325880"/>
          </a:xfrm>
          <a:prstGeom prst="rect">
            <a:avLst/>
          </a:prstGeom>
          <a:solidFill>
            <a:srgbClr val="745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82512" y="1847088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WRITING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631515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rPr dirty="0"/>
              <a:t>Individual student writing result.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06840" y="1737360"/>
            <a:ext cx="2560320" cy="1325880"/>
          </a:xfrm>
          <a:prstGeom prst="roundRect">
            <a:avLst/>
          </a:prstGeom>
          <a:solidFill>
            <a:srgbClr val="FCF1E5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006840" y="1737360"/>
            <a:ext cx="64008" cy="1325880"/>
          </a:xfrm>
          <a:prstGeom prst="rect">
            <a:avLst/>
          </a:prstGeom>
          <a:solidFill>
            <a:srgbClr val="EB7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71432" y="1847088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AVERAGE SCORE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1432" y="2635761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rPr dirty="0"/>
              <a:t>Combined average across the three subjects.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474720"/>
            <a:ext cx="2926080" cy="384048"/>
          </a:xfrm>
          <a:prstGeom prst="roundRect">
            <a:avLst/>
          </a:prstGeom>
          <a:solidFill>
            <a:srgbClr val="E6F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9808" y="3529584"/>
            <a:ext cx="270662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69689"/>
                </a:solidFill>
                <a:latin typeface="Aptos"/>
              </a:defRPr>
            </a:pPr>
            <a:r>
              <a:t>Grouping and comparison fields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3977639"/>
            <a:ext cx="4663440" cy="201168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Gender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Race/Ethnicity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Parental Level of Education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Lunch Type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Test Preparation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3474720"/>
            <a:ext cx="2011680" cy="384048"/>
          </a:xfrm>
          <a:prstGeom prst="roundRect">
            <a:avLst/>
          </a:prstGeom>
          <a:solidFill>
            <a:srgbClr val="F1E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961888" y="3529584"/>
            <a:ext cx="179222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456B4"/>
                </a:solidFill>
                <a:latin typeface="Aptos"/>
              </a:defRPr>
            </a:pPr>
            <a:r>
              <a:t>Why this matters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89320" y="3977639"/>
            <a:ext cx="5029200" cy="182880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222831"/>
                </a:solidFill>
                <a:latin typeface="Aptos"/>
              </a:defRPr>
            </a:pPr>
            <a:r>
              <a:t>• These fields allow the dashboard to compare performance across different student groups.</a:t>
            </a:r>
          </a:p>
          <a:p>
            <a:pPr>
              <a:spcAft>
                <a:spcPts val="700"/>
              </a:spcAft>
              <a:defRPr sz="1500">
                <a:solidFill>
                  <a:srgbClr val="222831"/>
                </a:solidFill>
                <a:latin typeface="Aptos"/>
              </a:defRPr>
            </a:pPr>
            <a:r>
              <a:t>• The analysis describes patterns in this dataset; it does not claim that any single factor causes the observed differences.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6528816"/>
            <a:ext cx="11155680" cy="9144"/>
          </a:xfrm>
          <a:prstGeom prst="rect">
            <a:avLst/>
          </a:prstGeom>
          <a:solidFill>
            <a:srgbClr val="DE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0352" y="6565392"/>
            <a:ext cx="8961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86370"/>
                </a:solidFill>
                <a:latin typeface="Aptos"/>
              </a:defRPr>
            </a:pPr>
            <a:r>
              <a:t>Student Performance Analysis • Syntecxhub Data Analysis Internship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t>Dashboard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68680"/>
            <a:ext cx="1069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86370"/>
                </a:solidFill>
                <a:latin typeface="Aptos"/>
              </a:defRPr>
            </a:pPr>
            <a:r>
              <a:t>Three pages, each with a clear purpose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65760"/>
            <a:ext cx="594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86370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45920"/>
            <a:ext cx="3474720" cy="3566160"/>
          </a:xfrm>
          <a:prstGeom prst="roundRect">
            <a:avLst/>
          </a:prstGeom>
          <a:solidFill>
            <a:srgbClr val="E8F2FC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645920"/>
            <a:ext cx="64008" cy="356616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175564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72040"/>
                </a:solidFill>
                <a:latin typeface="Aptos"/>
              </a:defRPr>
            </a:pPr>
            <a:r>
              <a:t>PAGE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606040"/>
            <a:ext cx="32004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KPIs, subject performance, performance categories and gender comparison.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240280"/>
            <a:ext cx="3063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t>Overview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645920"/>
            <a:ext cx="3474720" cy="3566160"/>
          </a:xfrm>
          <a:prstGeom prst="roundRect">
            <a:avLst/>
          </a:prstGeom>
          <a:solidFill>
            <a:srgbClr val="E6F7F3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34840" y="1645920"/>
            <a:ext cx="64008" cy="3566160"/>
          </a:xfrm>
          <a:prstGeom prst="rect">
            <a:avLst/>
          </a:prstGeom>
          <a:solidFill>
            <a:srgbClr val="2696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99431" y="175564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72040"/>
                </a:solidFill>
                <a:latin typeface="Aptos"/>
              </a:defRPr>
            </a:pPr>
            <a:r>
              <a:t>PAGE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1" y="2606040"/>
            <a:ext cx="32004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Test preparation, parental education, lunch type and race/ethnicity comparisons, with slicers.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1" y="2240280"/>
            <a:ext cx="3063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t>Performance Factors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1645920"/>
            <a:ext cx="3474720" cy="3566160"/>
          </a:xfrm>
          <a:prstGeom prst="roundRect">
            <a:avLst/>
          </a:prstGeom>
          <a:solidFill>
            <a:srgbClr val="F1EDFA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83879" y="1645920"/>
            <a:ext cx="64008" cy="3566160"/>
          </a:xfrm>
          <a:prstGeom prst="rect">
            <a:avLst/>
          </a:prstGeom>
          <a:solidFill>
            <a:srgbClr val="745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48471" y="175564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72040"/>
                </a:solidFill>
                <a:latin typeface="Aptos"/>
              </a:defRPr>
            </a:pPr>
            <a:r>
              <a:t>PAGE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8471" y="2606040"/>
            <a:ext cx="32004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Key findings, practical recommendations and the main takeaways from the analysis.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8471" y="2240280"/>
            <a:ext cx="3063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t>Insights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528816"/>
            <a:ext cx="11155680" cy="9144"/>
          </a:xfrm>
          <a:prstGeom prst="rect">
            <a:avLst/>
          </a:prstGeom>
          <a:solidFill>
            <a:srgbClr val="DE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30352" y="6565392"/>
            <a:ext cx="8961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86370"/>
                </a:solidFill>
                <a:latin typeface="Aptos"/>
              </a:defRPr>
            </a:pPr>
            <a:r>
              <a:t>Student Performance Analysis • Syntecxhub Data Analysis Internship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4584909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rPr dirty="0"/>
              <a:t>Page </a:t>
            </a:r>
            <a:r>
              <a:rPr dirty="0" smtClean="0"/>
              <a:t>1</a:t>
            </a:r>
            <a:r>
              <a:rPr lang="en-US" dirty="0" smtClean="0"/>
              <a:t>:</a:t>
            </a:r>
            <a:r>
              <a:rPr dirty="0" smtClean="0"/>
              <a:t> </a:t>
            </a:r>
            <a:r>
              <a:rPr dirty="0"/>
              <a:t>Overview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68680"/>
            <a:ext cx="1069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86370"/>
                </a:solidFill>
                <a:latin typeface="Aptos"/>
              </a:defRPr>
            </a:pPr>
            <a:r>
              <a:t>A quick view of the overall student performance picture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65760"/>
            <a:ext cx="594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86370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2057400" y="1234440"/>
            <a:ext cx="7682593" cy="5074920"/>
          </a:xfrm>
          <a:prstGeom prst="rect">
            <a:avLst/>
          </a:prstGeom>
          <a:noFill/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6528816"/>
            <a:ext cx="11155680" cy="9144"/>
          </a:xfrm>
          <a:prstGeom prst="rect">
            <a:avLst/>
          </a:prstGeom>
          <a:solidFill>
            <a:srgbClr val="DE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6565392"/>
            <a:ext cx="8961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86370"/>
                </a:solidFill>
                <a:latin typeface="Aptos"/>
              </a:defRPr>
            </a:pPr>
            <a:r>
              <a:t>Student Performance Analysis • Syntecxhub Data Analysis Internship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6074" y="1399032"/>
            <a:ext cx="7487035" cy="48961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5407249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rPr dirty="0"/>
              <a:t>Page </a:t>
            </a:r>
            <a:r>
              <a:rPr dirty="0" smtClean="0"/>
              <a:t>1</a:t>
            </a:r>
            <a:r>
              <a:rPr lang="en-US" dirty="0" smtClean="0"/>
              <a:t>: </a:t>
            </a:r>
            <a:r>
              <a:rPr dirty="0" smtClean="0"/>
              <a:t>What </a:t>
            </a:r>
            <a:r>
              <a:rPr dirty="0"/>
              <a:t>the Overview Shows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68680"/>
            <a:ext cx="1069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86370"/>
                </a:solidFill>
                <a:latin typeface="Aptos"/>
              </a:defRPr>
            </a:pPr>
            <a:r>
              <a:t>The headline numbers from the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65760"/>
            <a:ext cx="594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86370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2057400" cy="1325880"/>
          </a:xfrm>
          <a:prstGeom prst="roundRect">
            <a:avLst/>
          </a:prstGeom>
          <a:solidFill>
            <a:srgbClr val="E8F2FC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64008" cy="132588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435607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TOTAL STUDENTS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810512"/>
            <a:ext cx="17830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2971BE"/>
                </a:solidFill>
                <a:latin typeface="Aptos"/>
              </a:defRPr>
            </a:pPr>
            <a:r>
              <a:t>999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325880"/>
            <a:ext cx="2057400" cy="1325880"/>
          </a:xfrm>
          <a:prstGeom prst="roundRect">
            <a:avLst/>
          </a:prstGeom>
          <a:solidFill>
            <a:srgbClr val="E6F7F3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0" y="1325880"/>
            <a:ext cx="64008" cy="1325880"/>
          </a:xfrm>
          <a:prstGeom prst="rect">
            <a:avLst/>
          </a:prstGeom>
          <a:solidFill>
            <a:srgbClr val="2696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07792" y="1435607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OVERALL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07792" y="1810512"/>
            <a:ext cx="17830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269689"/>
                </a:solidFill>
                <a:latin typeface="Aptos"/>
              </a:defRPr>
            </a:pPr>
            <a:r>
              <a:t>67.68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2040" y="1325880"/>
            <a:ext cx="2057400" cy="1325880"/>
          </a:xfrm>
          <a:prstGeom prst="roundRect">
            <a:avLst/>
          </a:prstGeom>
          <a:solidFill>
            <a:srgbClr val="F1EDFA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892040" y="1325880"/>
            <a:ext cx="64008" cy="1325880"/>
          </a:xfrm>
          <a:prstGeom prst="rect">
            <a:avLst/>
          </a:prstGeom>
          <a:solidFill>
            <a:srgbClr val="745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56631" y="1435607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MATH AVERAGE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56631" y="1810512"/>
            <a:ext cx="17830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7456B4"/>
                </a:solidFill>
                <a:latin typeface="Aptos"/>
              </a:defRPr>
            </a:pPr>
            <a:r>
              <a:t>66.36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0" y="1325880"/>
            <a:ext cx="2057400" cy="1325880"/>
          </a:xfrm>
          <a:prstGeom prst="roundRect">
            <a:avLst/>
          </a:prstGeom>
          <a:solidFill>
            <a:srgbClr val="FCF1E5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040880" y="1325880"/>
            <a:ext cx="64008" cy="1325880"/>
          </a:xfrm>
          <a:prstGeom prst="rect">
            <a:avLst/>
          </a:prstGeom>
          <a:solidFill>
            <a:srgbClr val="EB7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05472" y="1435607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READING AVERAGE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5472" y="1810512"/>
            <a:ext cx="17830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EB7E27"/>
                </a:solidFill>
                <a:latin typeface="Aptos"/>
              </a:defRPr>
            </a:pPr>
            <a:r>
              <a:t>68.97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20" y="1325880"/>
            <a:ext cx="2057400" cy="1325880"/>
          </a:xfrm>
          <a:prstGeom prst="roundRect">
            <a:avLst/>
          </a:prstGeom>
          <a:solidFill>
            <a:srgbClr val="E8F2FC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189720" y="1325880"/>
            <a:ext cx="64008" cy="132588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354312" y="1435607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WRITING AVERAGE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54312" y="1810512"/>
            <a:ext cx="17830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2971BE"/>
                </a:solidFill>
                <a:latin typeface="Aptos"/>
              </a:defRPr>
            </a:pPr>
            <a:r>
              <a:t>67.71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3063240"/>
            <a:ext cx="1828800" cy="384048"/>
          </a:xfrm>
          <a:prstGeom prst="roundRect">
            <a:avLst/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9808" y="3118104"/>
            <a:ext cx="160934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Key observations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566160"/>
            <a:ext cx="10241280" cy="219456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Reading has the highest subject average at 68.97.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Math has the lowest subject average at 66.36.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The gap between the highest and lowest subject averages is about 2.61 points, so subject performance is relatively close.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Female students average 68.92 compared with 66.52 for male students.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528816"/>
            <a:ext cx="11155680" cy="9144"/>
          </a:xfrm>
          <a:prstGeom prst="rect">
            <a:avLst/>
          </a:prstGeom>
          <a:solidFill>
            <a:srgbClr val="DE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30352" y="6565392"/>
            <a:ext cx="8961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86370"/>
                </a:solidFill>
                <a:latin typeface="Aptos"/>
              </a:defRPr>
            </a:pPr>
            <a:r>
              <a:t>Student Performance Analysis • Syntecxhub Data Analysis Internship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t>Performance Category Distribution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68680"/>
            <a:ext cx="1069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86370"/>
                </a:solidFill>
                <a:latin typeface="Aptos"/>
              </a:defRPr>
            </a:pPr>
            <a:r>
              <a:t>How the 999 students are distributed across the performance bands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65760"/>
            <a:ext cx="594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86370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2468880" cy="1417320"/>
          </a:xfrm>
          <a:prstGeom prst="roundRect">
            <a:avLst/>
          </a:prstGeom>
          <a:solidFill>
            <a:srgbClr val="E8F2FC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64008" cy="141732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" y="1527048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EXCELLENT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901952"/>
            <a:ext cx="21945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2971BE"/>
                </a:solidFill>
                <a:latin typeface="Aptos"/>
              </a:defRPr>
            </a:pPr>
            <a:r>
              <a:t>43.34%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23774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433 students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417320"/>
            <a:ext cx="2468880" cy="1417320"/>
          </a:xfrm>
          <a:prstGeom prst="roundRect">
            <a:avLst/>
          </a:prstGeom>
          <a:solidFill>
            <a:srgbClr val="E6F7F3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337560" y="1417320"/>
            <a:ext cx="64008" cy="1417320"/>
          </a:xfrm>
          <a:prstGeom prst="rect">
            <a:avLst/>
          </a:prstGeom>
          <a:solidFill>
            <a:srgbClr val="2696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02152" y="1527048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AVERAGE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2152" y="1901952"/>
            <a:ext cx="21945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269689"/>
                </a:solidFill>
                <a:latin typeface="Aptos"/>
              </a:defRPr>
            </a:pPr>
            <a:r>
              <a:t>28.93%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2152" y="23774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289 students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1417320"/>
            <a:ext cx="2468880" cy="1417320"/>
          </a:xfrm>
          <a:prstGeom prst="roundRect">
            <a:avLst/>
          </a:prstGeom>
          <a:solidFill>
            <a:srgbClr val="F1EDFA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035040" y="1417320"/>
            <a:ext cx="64008" cy="1417320"/>
          </a:xfrm>
          <a:prstGeom prst="rect">
            <a:avLst/>
          </a:prstGeom>
          <a:solidFill>
            <a:srgbClr val="745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99631" y="1527048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GOOD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9631" y="1901952"/>
            <a:ext cx="21945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7456B4"/>
                </a:solidFill>
                <a:latin typeface="Aptos"/>
              </a:defRPr>
            </a:pPr>
            <a:r>
              <a:t>15.72%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9631" y="23774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157 students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32520" y="1417320"/>
            <a:ext cx="2468880" cy="1417320"/>
          </a:xfrm>
          <a:prstGeom prst="roundRect">
            <a:avLst/>
          </a:prstGeom>
          <a:solidFill>
            <a:srgbClr val="FCEBEF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732520" y="1417320"/>
            <a:ext cx="64008" cy="1417320"/>
          </a:xfrm>
          <a:prstGeom prst="rect">
            <a:avLst/>
          </a:prstGeom>
          <a:solidFill>
            <a:srgbClr val="CA43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897112" y="1527048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NEEDS IMPROVEMENT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7112" y="1901952"/>
            <a:ext cx="21945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CA4353"/>
                </a:solidFill>
                <a:latin typeface="Aptos"/>
              </a:defRPr>
            </a:pPr>
            <a:r>
              <a:t>12.01%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97112" y="23774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120 students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3337560"/>
            <a:ext cx="1737360" cy="384048"/>
          </a:xfrm>
          <a:prstGeom prst="roundRect">
            <a:avLst/>
          </a:prstGeom>
          <a:solidFill>
            <a:srgbClr val="FCF1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9808" y="3392424"/>
            <a:ext cx="151790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B7E27"/>
                </a:solidFill>
                <a:latin typeface="Aptos"/>
              </a:defRPr>
            </a:pPr>
            <a:r>
              <a:t>What stands 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840480"/>
            <a:ext cx="10241280" cy="173736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22831"/>
                </a:solidFill>
                <a:latin typeface="Aptos"/>
              </a:defRPr>
            </a:pPr>
            <a:r>
              <a:t>• Excellent is the largest category, representing 43.34% of students.</a:t>
            </a:r>
          </a:p>
          <a:p>
            <a:pPr>
              <a:spcAft>
                <a:spcPts val="700"/>
              </a:spcAft>
              <a:defRPr sz="1700">
                <a:solidFill>
                  <a:srgbClr val="222831"/>
                </a:solidFill>
                <a:latin typeface="Aptos"/>
              </a:defRPr>
            </a:pPr>
            <a:r>
              <a:t>• 40.94% of students fall into the Average or Needs Improvement categories.</a:t>
            </a:r>
          </a:p>
          <a:p>
            <a:pPr>
              <a:spcAft>
                <a:spcPts val="700"/>
              </a:spcAft>
              <a:defRPr sz="1700">
                <a:solidFill>
                  <a:srgbClr val="222831"/>
                </a:solidFill>
                <a:latin typeface="Aptos"/>
              </a:defRPr>
            </a:pPr>
            <a:r>
              <a:t>• That lower-performing share is large enough to justify targeted academic support.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528816"/>
            <a:ext cx="11155680" cy="9144"/>
          </a:xfrm>
          <a:prstGeom prst="rect">
            <a:avLst/>
          </a:prstGeom>
          <a:solidFill>
            <a:srgbClr val="DE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30352" y="6565392"/>
            <a:ext cx="8961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86370"/>
                </a:solidFill>
                <a:latin typeface="Aptos"/>
              </a:defRPr>
            </a:pPr>
            <a:r>
              <a:t>Student Performance Analysis • Syntecxhub Data Analysis Internship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t>Gender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68680"/>
            <a:ext cx="1069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86370"/>
                </a:solidFill>
                <a:latin typeface="Aptos"/>
              </a:defRPr>
            </a:pPr>
            <a:r>
              <a:t>A small but visible difference in overall average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65760"/>
            <a:ext cx="594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86370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417320"/>
            <a:ext cx="3108960" cy="1828800"/>
          </a:xfrm>
          <a:prstGeom prst="roundRect">
            <a:avLst/>
          </a:prstGeom>
          <a:solidFill>
            <a:srgbClr val="E8F2FC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417320"/>
            <a:ext cx="64008" cy="18288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41832" y="1527048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FEMALE AVERAGE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1901952"/>
            <a:ext cx="28346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971BE"/>
                </a:solidFill>
                <a:latin typeface="Aptos"/>
              </a:defRPr>
            </a:pPr>
            <a:r>
              <a:t>68.92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377440"/>
            <a:ext cx="2834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Observed overall average score.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26280" y="1417320"/>
            <a:ext cx="3108960" cy="1828800"/>
          </a:xfrm>
          <a:prstGeom prst="roundRect">
            <a:avLst/>
          </a:prstGeom>
          <a:solidFill>
            <a:srgbClr val="E6F7F3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26280" y="1417320"/>
            <a:ext cx="64008" cy="1828800"/>
          </a:xfrm>
          <a:prstGeom prst="rect">
            <a:avLst/>
          </a:prstGeom>
          <a:solidFill>
            <a:srgbClr val="2696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90872" y="1527048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MALE AVERAGE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1901952"/>
            <a:ext cx="28346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69689"/>
                </a:solidFill>
                <a:latin typeface="Aptos"/>
              </a:defRPr>
            </a:pPr>
            <a:r>
              <a:t>66.52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2377440"/>
            <a:ext cx="2834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Observed overall average score.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1417320"/>
            <a:ext cx="3108960" cy="1828800"/>
          </a:xfrm>
          <a:prstGeom prst="roundRect">
            <a:avLst/>
          </a:prstGeom>
          <a:solidFill>
            <a:srgbClr val="F1EDFA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75320" y="1417320"/>
            <a:ext cx="64008" cy="1828800"/>
          </a:xfrm>
          <a:prstGeom prst="rect">
            <a:avLst/>
          </a:prstGeom>
          <a:solidFill>
            <a:srgbClr val="745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39912" y="1527048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OBSERVED DIFFERENCE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912" y="1901952"/>
            <a:ext cx="28346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7456B4"/>
                </a:solidFill>
                <a:latin typeface="Aptos"/>
              </a:defRPr>
            </a:pPr>
            <a:r>
              <a:t>2.40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912" y="2377440"/>
            <a:ext cx="2834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Female average is higher by 2.40 points.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749039"/>
            <a:ext cx="1645920" cy="384048"/>
          </a:xfrm>
          <a:prstGeom prst="roundRect">
            <a:avLst/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86968" y="3803903"/>
            <a:ext cx="142646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251960"/>
            <a:ext cx="10058400" cy="164592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Female students recorded a slightly higher average score than male students.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The difference is modest compared with the larger gaps seen for some other factors.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Gender alone does not explain why the difference exists; additional variables would be needed for deeper investigation.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6528816"/>
            <a:ext cx="11155680" cy="9144"/>
          </a:xfrm>
          <a:prstGeom prst="rect">
            <a:avLst/>
          </a:prstGeom>
          <a:solidFill>
            <a:srgbClr val="DE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30352" y="6565392"/>
            <a:ext cx="8961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86370"/>
                </a:solidFill>
                <a:latin typeface="Aptos"/>
              </a:defRPr>
            </a:pPr>
            <a:r>
              <a:t>Student Performance Analysis • Syntecxhub Data Analysis Internship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t>Page 2 — Performance Factors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68680"/>
            <a:ext cx="1069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86370"/>
                </a:solidFill>
                <a:latin typeface="Aptos"/>
              </a:defRPr>
            </a:pPr>
            <a:r>
              <a:t>Moving from 'what is happening?' to 'where do we see differences?'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65760"/>
            <a:ext cx="594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86370"/>
                </a:solidFill>
                <a:latin typeface="Aptos"/>
              </a:defRPr>
            </a:pPr>
            <a:r>
              <a:t>10</a:t>
            </a:r>
          </a:p>
        </p:txBody>
      </p:sp>
      <p:pic>
        <p:nvPicPr>
          <p:cNvPr id="7" name="Picture 6" descr="Screenshot 2026-09-15 0114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1035" y="1234440"/>
            <a:ext cx="8819448" cy="5074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1234440"/>
            <a:ext cx="11155680" cy="5074920"/>
          </a:xfrm>
          <a:prstGeom prst="rect">
            <a:avLst/>
          </a:prstGeom>
          <a:noFill/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6528816"/>
            <a:ext cx="11155680" cy="9144"/>
          </a:xfrm>
          <a:prstGeom prst="rect">
            <a:avLst/>
          </a:prstGeom>
          <a:solidFill>
            <a:srgbClr val="DE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6565392"/>
            <a:ext cx="8961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86370"/>
                </a:solidFill>
                <a:latin typeface="Aptos"/>
              </a:defRPr>
            </a:pPr>
            <a:r>
              <a:t>Student Performance Analysis • Syntecxhub Data Analysis Internship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t>Test Preparation and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68680"/>
            <a:ext cx="1069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86370"/>
                </a:solidFill>
                <a:latin typeface="Aptos"/>
              </a:defRPr>
            </a:pPr>
            <a:r>
              <a:t>One of the clearest differences in the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65760"/>
            <a:ext cx="594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86370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200400" cy="1737360"/>
          </a:xfrm>
          <a:prstGeom prst="roundRect">
            <a:avLst/>
          </a:prstGeom>
          <a:solidFill>
            <a:srgbClr val="E8F2FC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417320"/>
            <a:ext cx="64008" cy="173736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" y="1527048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COMPLETED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1901952"/>
            <a:ext cx="29260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971BE"/>
                </a:solidFill>
                <a:latin typeface="Aptos"/>
              </a:defRPr>
            </a:pPr>
            <a:r>
              <a:t>72.75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377440"/>
            <a:ext cx="2926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Average score among students who completed test preparation.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1417320"/>
            <a:ext cx="3200400" cy="1737360"/>
          </a:xfrm>
          <a:prstGeom prst="roundRect">
            <a:avLst/>
          </a:prstGeom>
          <a:solidFill>
            <a:srgbClr val="E6F7F3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80560" y="1417320"/>
            <a:ext cx="64008" cy="1737360"/>
          </a:xfrm>
          <a:prstGeom prst="rect">
            <a:avLst/>
          </a:prstGeom>
          <a:solidFill>
            <a:srgbClr val="2696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45152" y="1527048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NONE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01952"/>
            <a:ext cx="29260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69689"/>
                </a:solidFill>
                <a:latin typeface="Aptos"/>
              </a:defRPr>
            </a:pPr>
            <a:r>
              <a:t>65.13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377440"/>
            <a:ext cx="2926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Average score among students who did not complete test preparation.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417320"/>
            <a:ext cx="3200400" cy="1737360"/>
          </a:xfrm>
          <a:prstGeom prst="roundRect">
            <a:avLst/>
          </a:prstGeom>
          <a:solidFill>
            <a:srgbClr val="FCF1E5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29600" y="1417320"/>
            <a:ext cx="64008" cy="1737360"/>
          </a:xfrm>
          <a:prstGeom prst="rect">
            <a:avLst/>
          </a:prstGeom>
          <a:solidFill>
            <a:srgbClr val="EB7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94192" y="1527048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72040"/>
                </a:solidFill>
                <a:latin typeface="Aptos"/>
              </a:defRPr>
            </a:pPr>
            <a:r>
              <a:t>DIFFERENCE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1901952"/>
            <a:ext cx="29260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EB7E27"/>
                </a:solidFill>
                <a:latin typeface="Aptos"/>
              </a:defRPr>
            </a:pPr>
            <a:r>
              <a:t>7.62 POINTS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2377440"/>
            <a:ext cx="2926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Observed gap between the two groups.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703320"/>
            <a:ext cx="2011680" cy="384048"/>
          </a:xfrm>
          <a:prstGeom prst="roundRect">
            <a:avLst/>
          </a:prstGeom>
          <a:solidFill>
            <a:srgbClr val="F1E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1248" y="3758183"/>
            <a:ext cx="179222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456B4"/>
                </a:solidFill>
                <a:latin typeface="Aptos"/>
              </a:defRPr>
            </a:pPr>
            <a:r>
              <a:t>What this suggests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206240"/>
            <a:ext cx="10149840" cy="164592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Students who completed test preparation had the higher average score.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The size of the difference makes test preparation an important area for further attention.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This is an association in the dataset, not proof that test preparation caused the difference.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6528816"/>
            <a:ext cx="11155680" cy="9144"/>
          </a:xfrm>
          <a:prstGeom prst="rect">
            <a:avLst/>
          </a:prstGeom>
          <a:solidFill>
            <a:srgbClr val="DE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30352" y="6565392"/>
            <a:ext cx="8961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86370"/>
                </a:solidFill>
                <a:latin typeface="Aptos"/>
              </a:defRPr>
            </a:pPr>
            <a:r>
              <a:t>Student Performance Analysis • Syntecxhub Data Analysis Internship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t>Lunch Type, Parental Education and Race/Ethnicity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68680"/>
            <a:ext cx="1069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86370"/>
                </a:solidFill>
                <a:latin typeface="Aptos"/>
              </a:defRPr>
            </a:pPr>
            <a:r>
              <a:t>The dashboard also reveals wider group-level performance gaps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65760"/>
            <a:ext cx="594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86370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280160"/>
            <a:ext cx="1417320" cy="384048"/>
          </a:xfrm>
          <a:prstGeom prst="roundRect">
            <a:avLst/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" y="1335024"/>
            <a:ext cx="119786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71BE"/>
                </a:solidFill>
                <a:latin typeface="Aptos"/>
              </a:defRPr>
            </a:pPr>
            <a:r>
              <a:t>Lunch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55448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Standard: 71.32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Free/Reduced: 60.87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Observed gap: 10.45 points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280160"/>
            <a:ext cx="1828800" cy="384048"/>
          </a:xfrm>
          <a:prstGeom prst="roundRect">
            <a:avLst/>
          </a:prstGeom>
          <a:solidFill>
            <a:srgbClr val="E6F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53128" y="1335024"/>
            <a:ext cx="160934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69689"/>
                </a:solidFill>
                <a:latin typeface="Aptos"/>
              </a:defRPr>
            </a:pPr>
            <a:r>
              <a:t>Parental Education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783080"/>
            <a:ext cx="3291840" cy="155448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Master's Degree: 74.34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Some High School: 62.54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Observed range: 11.80 points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280160"/>
            <a:ext cx="1600200" cy="384048"/>
          </a:xfrm>
          <a:prstGeom prst="roundRect">
            <a:avLst/>
          </a:prstGeom>
          <a:solidFill>
            <a:srgbClr val="F1E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02167" y="1335024"/>
            <a:ext cx="138074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456B4"/>
                </a:solidFill>
                <a:latin typeface="Aptos"/>
              </a:defRPr>
            </a:pPr>
            <a:r>
              <a:t>Race/Ethnicity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1783080"/>
            <a:ext cx="3291840" cy="155448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Group E: 72.22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Group C: 64.68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Observed gap: 7.54 points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657600"/>
            <a:ext cx="2103120" cy="384048"/>
          </a:xfrm>
          <a:prstGeom prst="roundRect">
            <a:avLst/>
          </a:prstGeom>
          <a:solidFill>
            <a:srgbClr val="FCF1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4088" y="3712463"/>
            <a:ext cx="1883663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B7E27"/>
                </a:solidFill>
                <a:latin typeface="Aptos"/>
              </a:defRPr>
            </a:pPr>
            <a:r>
              <a:t>A careful interpretation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160520"/>
            <a:ext cx="10424160" cy="160020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These differences show where performance varies across the available groups.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They should be used as signals for further investigation rather than labels about the students themselves.</a:t>
            </a:r>
          </a:p>
          <a:p>
            <a:pPr>
              <a:spcAft>
                <a:spcPts val="700"/>
              </a:spcAft>
              <a:defRPr sz="1600">
                <a:solidFill>
                  <a:srgbClr val="222831"/>
                </a:solidFill>
                <a:latin typeface="Aptos"/>
              </a:defRPr>
            </a:pPr>
            <a:r>
              <a:t>• The dataset does not contain enough information to establish the causes of these gaps.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528816"/>
            <a:ext cx="11155680" cy="9144"/>
          </a:xfrm>
          <a:prstGeom prst="rect">
            <a:avLst/>
          </a:prstGeom>
          <a:solidFill>
            <a:srgbClr val="DE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0352" y="6565392"/>
            <a:ext cx="8961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86370"/>
                </a:solidFill>
                <a:latin typeface="Aptos"/>
              </a:defRPr>
            </a:pPr>
            <a:r>
              <a:t>Student Performance Analysis • Syntecxhub Data Analysis Internship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6859827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rPr dirty="0"/>
              <a:t>Key </a:t>
            </a:r>
            <a:r>
              <a:rPr dirty="0" smtClean="0"/>
              <a:t>Insights</a:t>
            </a:r>
            <a:r>
              <a:rPr lang="en-US" dirty="0" smtClean="0"/>
              <a:t>:</a:t>
            </a:r>
            <a:r>
              <a:rPr dirty="0" smtClean="0"/>
              <a:t> </a:t>
            </a:r>
            <a:r>
              <a:rPr dirty="0"/>
              <a:t>Putting the Numbers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68680"/>
            <a:ext cx="1069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86370"/>
                </a:solidFill>
                <a:latin typeface="Aptos"/>
              </a:defRPr>
            </a:pPr>
            <a:r>
              <a:t>The strongest patterns from the three dashboard pages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65760"/>
            <a:ext cx="594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86370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2891" y="1161288"/>
            <a:ext cx="10835640" cy="841248"/>
          </a:xfrm>
          <a:prstGeom prst="roundRect">
            <a:avLst/>
          </a:prstGeom>
          <a:solidFill>
            <a:srgbClr val="E8F2FC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64008" cy="841248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81531" y="1444752"/>
            <a:ext cx="9875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72040"/>
                </a:solidFill>
                <a:latin typeface="Aptos"/>
              </a:defRPr>
            </a:pPr>
            <a:r>
              <a:rPr dirty="0"/>
              <a:t>Reading leads the subjects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194560"/>
            <a:ext cx="10561319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Reading has the highest average score at 68.97; Math is lowest at 66.36.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1399032"/>
            <a:ext cx="411480" cy="411480"/>
          </a:xfrm>
          <a:prstGeom prst="ellipse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481328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167128"/>
            <a:ext cx="10835640" cy="841248"/>
          </a:xfrm>
          <a:prstGeom prst="roundRect">
            <a:avLst/>
          </a:prstGeom>
          <a:solidFill>
            <a:srgbClr val="E6F7F3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" y="2167128"/>
            <a:ext cx="64008" cy="841248"/>
          </a:xfrm>
          <a:prstGeom prst="rect">
            <a:avLst/>
          </a:prstGeom>
          <a:solidFill>
            <a:srgbClr val="2696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34440" y="2356032"/>
            <a:ext cx="101772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72040"/>
                </a:solidFill>
                <a:latin typeface="Aptos"/>
              </a:defRPr>
            </a:pPr>
            <a:r>
              <a:rPr dirty="0"/>
              <a:t>Test preparation stands 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3127248"/>
            <a:ext cx="10561319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Completed preparation is associated with a 7.62-point higher average score.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2331720"/>
            <a:ext cx="411480" cy="411480"/>
          </a:xfrm>
          <a:prstGeom prst="ellipse">
            <a:avLst/>
          </a:prstGeom>
          <a:solidFill>
            <a:srgbClr val="2696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2414016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099816"/>
            <a:ext cx="10835640" cy="841248"/>
          </a:xfrm>
          <a:prstGeom prst="roundRect">
            <a:avLst/>
          </a:prstGeom>
          <a:solidFill>
            <a:srgbClr val="FCF1E5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85800" y="3099816"/>
            <a:ext cx="64008" cy="841248"/>
          </a:xfrm>
          <a:prstGeom prst="rect">
            <a:avLst/>
          </a:prstGeom>
          <a:solidFill>
            <a:srgbClr val="EB7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81532" y="3310128"/>
            <a:ext cx="101301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72040"/>
                </a:solidFill>
                <a:latin typeface="Aptos"/>
              </a:defRPr>
            </a:pPr>
            <a:r>
              <a:t>Lunch type shows a large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" y="4059936"/>
            <a:ext cx="10561319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The Standard group averages 71.32 versus 60.87 for Free/Reduced.</a:t>
            </a:r>
          </a:p>
        </p:txBody>
      </p:sp>
      <p:sp>
        <p:nvSpPr>
          <p:cNvPr id="23" name="Oval 22"/>
          <p:cNvSpPr/>
          <p:nvPr/>
        </p:nvSpPr>
        <p:spPr>
          <a:xfrm>
            <a:off x="822960" y="3264408"/>
            <a:ext cx="411480" cy="411480"/>
          </a:xfrm>
          <a:prstGeom prst="ellipse">
            <a:avLst/>
          </a:prstGeom>
          <a:solidFill>
            <a:srgbClr val="EB7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3346704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032504"/>
            <a:ext cx="10835640" cy="841248"/>
          </a:xfrm>
          <a:prstGeom prst="roundRect">
            <a:avLst/>
          </a:prstGeom>
          <a:solidFill>
            <a:srgbClr val="F1EDFA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85800" y="4032504"/>
            <a:ext cx="64008" cy="841248"/>
          </a:xfrm>
          <a:prstGeom prst="rect">
            <a:avLst/>
          </a:prstGeom>
          <a:solidFill>
            <a:srgbClr val="745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281531" y="4279392"/>
            <a:ext cx="101301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72040"/>
                </a:solidFill>
                <a:latin typeface="Aptos"/>
              </a:defRPr>
            </a:pPr>
            <a:r>
              <a:rPr dirty="0"/>
              <a:t>Parental education varies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4992624"/>
            <a:ext cx="10561319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Average scores range from 74.34 to 62.54 across education groups.</a:t>
            </a:r>
          </a:p>
        </p:txBody>
      </p:sp>
      <p:sp>
        <p:nvSpPr>
          <p:cNvPr id="29" name="Oval 28"/>
          <p:cNvSpPr/>
          <p:nvPr/>
        </p:nvSpPr>
        <p:spPr>
          <a:xfrm>
            <a:off x="822960" y="4197096"/>
            <a:ext cx="411480" cy="411480"/>
          </a:xfrm>
          <a:prstGeom prst="ellipse">
            <a:avLst/>
          </a:prstGeom>
          <a:solidFill>
            <a:srgbClr val="745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4279392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4965192"/>
            <a:ext cx="10835640" cy="841248"/>
          </a:xfrm>
          <a:prstGeom prst="roundRect">
            <a:avLst/>
          </a:prstGeom>
          <a:solidFill>
            <a:srgbClr val="FCEBEF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85800" y="4965192"/>
            <a:ext cx="64008" cy="841248"/>
          </a:xfrm>
          <a:prstGeom prst="rect">
            <a:avLst/>
          </a:prstGeom>
          <a:solidFill>
            <a:srgbClr val="CA43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234440" y="5212078"/>
            <a:ext cx="101772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72040"/>
                </a:solidFill>
                <a:latin typeface="Aptos"/>
              </a:defRPr>
            </a:pPr>
            <a:r>
              <a:rPr dirty="0"/>
              <a:t>Performance support is still needed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" y="5925312"/>
            <a:ext cx="10561319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40.94% of students are in Average or Needs Improvement categories.</a:t>
            </a:r>
          </a:p>
        </p:txBody>
      </p:sp>
      <p:sp>
        <p:nvSpPr>
          <p:cNvPr id="35" name="Oval 34"/>
          <p:cNvSpPr/>
          <p:nvPr/>
        </p:nvSpPr>
        <p:spPr>
          <a:xfrm>
            <a:off x="822960" y="5129783"/>
            <a:ext cx="411480" cy="411480"/>
          </a:xfrm>
          <a:prstGeom prst="ellipse">
            <a:avLst/>
          </a:prstGeom>
          <a:solidFill>
            <a:srgbClr val="CA43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22960" y="5212079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6528816"/>
            <a:ext cx="11155680" cy="9144"/>
          </a:xfrm>
          <a:prstGeom prst="rect">
            <a:avLst/>
          </a:prstGeom>
          <a:solidFill>
            <a:srgbClr val="DE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30352" y="6565392"/>
            <a:ext cx="8961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86370"/>
                </a:solidFill>
                <a:latin typeface="Aptos"/>
              </a:defRPr>
            </a:pPr>
            <a:r>
              <a:t>Student Performance Analysis • Syntecxhub Data Analysis Internship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5902578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rPr dirty="0"/>
              <a:t>Page </a:t>
            </a:r>
            <a:r>
              <a:rPr dirty="0" smtClean="0"/>
              <a:t>3</a:t>
            </a:r>
            <a:r>
              <a:rPr lang="en-US" dirty="0" smtClean="0"/>
              <a:t>:</a:t>
            </a:r>
            <a:r>
              <a:rPr dirty="0" smtClean="0"/>
              <a:t> </a:t>
            </a:r>
            <a:r>
              <a:rPr dirty="0"/>
              <a:t>Insights &amp;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68680"/>
            <a:ext cx="1069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86370"/>
                </a:solidFill>
                <a:latin typeface="Aptos"/>
              </a:defRPr>
            </a:pPr>
            <a:r>
              <a:t>A concise summary of what the analysis means in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65760"/>
            <a:ext cx="594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86370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143000"/>
            <a:ext cx="11064240" cy="5303520"/>
          </a:xfrm>
          <a:prstGeom prst="rect">
            <a:avLst/>
          </a:prstGeom>
          <a:noFill/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6528816"/>
            <a:ext cx="11155680" cy="9144"/>
          </a:xfrm>
          <a:prstGeom prst="rect">
            <a:avLst/>
          </a:prstGeom>
          <a:solidFill>
            <a:srgbClr val="DE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6565392"/>
            <a:ext cx="8961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86370"/>
                </a:solidFill>
                <a:latin typeface="Aptos"/>
              </a:defRPr>
            </a:pPr>
            <a:r>
              <a:t>Student Performance Analysis • Syntecxhub Data Analysis Internship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7523" y="1252728"/>
            <a:ext cx="9101521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72040"/>
                </a:solidFill>
                <a:latin typeface="Aptos"/>
              </a:defRPr>
            </a:pPr>
            <a:r>
              <a:t>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68680"/>
            <a:ext cx="10698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86370"/>
                </a:solidFill>
                <a:latin typeface="Aptos"/>
              </a:defRPr>
            </a:pPr>
            <a:r>
              <a:t>Practical actions that follow from the 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65760"/>
            <a:ext cx="594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86370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234440"/>
            <a:ext cx="10835640" cy="841248"/>
          </a:xfrm>
          <a:prstGeom prst="roundRect">
            <a:avLst/>
          </a:prstGeom>
          <a:solidFill>
            <a:srgbClr val="E8F2FC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64008" cy="841248"/>
          </a:xfrm>
          <a:prstGeom prst="rect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34440" y="1417320"/>
            <a:ext cx="101772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72040"/>
                </a:solidFill>
                <a:latin typeface="Aptos"/>
              </a:defRPr>
            </a:pPr>
            <a:r>
              <a:rPr dirty="0"/>
              <a:t>Expand test preparation access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194560"/>
            <a:ext cx="10561319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Increase access to structured revision, practice tests, study guides and academic support.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1399032"/>
            <a:ext cx="411480" cy="411480"/>
          </a:xfrm>
          <a:prstGeom prst="ellipse">
            <a:avLst/>
          </a:prstGeom>
          <a:solidFill>
            <a:srgbClr val="297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481328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167128"/>
            <a:ext cx="10835640" cy="841248"/>
          </a:xfrm>
          <a:prstGeom prst="roundRect">
            <a:avLst/>
          </a:prstGeom>
          <a:solidFill>
            <a:srgbClr val="E6F7F3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" y="2167128"/>
            <a:ext cx="64008" cy="841248"/>
          </a:xfrm>
          <a:prstGeom prst="rect">
            <a:avLst/>
          </a:prstGeom>
          <a:solidFill>
            <a:srgbClr val="2696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34440" y="2404872"/>
            <a:ext cx="101772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72040"/>
                </a:solidFill>
                <a:latin typeface="Aptos"/>
              </a:defRPr>
            </a:pPr>
            <a:r>
              <a:rPr dirty="0"/>
              <a:t>Target students needing support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3127248"/>
            <a:ext cx="10561319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Use tutoring, mentoring and early intervention for students in lower performance categories.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2331720"/>
            <a:ext cx="411480" cy="411480"/>
          </a:xfrm>
          <a:prstGeom prst="ellipse">
            <a:avLst/>
          </a:prstGeom>
          <a:solidFill>
            <a:srgbClr val="2696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2414016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099816"/>
            <a:ext cx="10835640" cy="841248"/>
          </a:xfrm>
          <a:prstGeom prst="roundRect">
            <a:avLst/>
          </a:prstGeom>
          <a:solidFill>
            <a:srgbClr val="F1EDFA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85800" y="3099816"/>
            <a:ext cx="64008" cy="841248"/>
          </a:xfrm>
          <a:prstGeom prst="rect">
            <a:avLst/>
          </a:prstGeom>
          <a:solidFill>
            <a:srgbClr val="745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34440" y="3380160"/>
            <a:ext cx="101772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72040"/>
                </a:solidFill>
                <a:latin typeface="Aptos"/>
              </a:defRPr>
            </a:pPr>
            <a:r>
              <a:rPr dirty="0"/>
              <a:t>Investigate performance gaps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" y="4059936"/>
            <a:ext cx="10561319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Explore the factors behind lunch and demographic differences instead of assuming causation.</a:t>
            </a:r>
          </a:p>
        </p:txBody>
      </p:sp>
      <p:sp>
        <p:nvSpPr>
          <p:cNvPr id="23" name="Oval 22"/>
          <p:cNvSpPr/>
          <p:nvPr/>
        </p:nvSpPr>
        <p:spPr>
          <a:xfrm>
            <a:off x="822960" y="3264408"/>
            <a:ext cx="411480" cy="411480"/>
          </a:xfrm>
          <a:prstGeom prst="ellipse">
            <a:avLst/>
          </a:prstGeom>
          <a:solidFill>
            <a:srgbClr val="745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3346704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032504"/>
            <a:ext cx="10835640" cy="841248"/>
          </a:xfrm>
          <a:prstGeom prst="roundRect">
            <a:avLst/>
          </a:prstGeom>
          <a:solidFill>
            <a:srgbClr val="FCF1E5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85800" y="4032504"/>
            <a:ext cx="64008" cy="841248"/>
          </a:xfrm>
          <a:prstGeom prst="rect">
            <a:avLst/>
          </a:prstGeom>
          <a:solidFill>
            <a:srgbClr val="EB7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234440" y="4242816"/>
            <a:ext cx="101772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72040"/>
                </a:solidFill>
                <a:latin typeface="Aptos"/>
              </a:defRPr>
            </a:pPr>
            <a:r>
              <a:rPr dirty="0"/>
              <a:t>Strengthen mathematics support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4992624"/>
            <a:ext cx="10561319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Provide additional practice, targeted assistance and problem-solving sessions in Math.</a:t>
            </a:r>
          </a:p>
        </p:txBody>
      </p:sp>
      <p:sp>
        <p:nvSpPr>
          <p:cNvPr id="29" name="Oval 28"/>
          <p:cNvSpPr/>
          <p:nvPr/>
        </p:nvSpPr>
        <p:spPr>
          <a:xfrm>
            <a:off x="822960" y="4197096"/>
            <a:ext cx="411480" cy="411480"/>
          </a:xfrm>
          <a:prstGeom prst="ellipse">
            <a:avLst/>
          </a:prstGeom>
          <a:solidFill>
            <a:srgbClr val="EB7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4279392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4965192"/>
            <a:ext cx="10835640" cy="841248"/>
          </a:xfrm>
          <a:prstGeom prst="roundRect">
            <a:avLst/>
          </a:prstGeom>
          <a:solidFill>
            <a:srgbClr val="FCEBEF"/>
          </a:solidFill>
          <a:ln>
            <a:solidFill>
              <a:srgbClr val="DE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85800" y="4965192"/>
            <a:ext cx="64008" cy="841248"/>
          </a:xfrm>
          <a:prstGeom prst="rect">
            <a:avLst/>
          </a:prstGeom>
          <a:solidFill>
            <a:srgbClr val="CA43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234440" y="5154096"/>
            <a:ext cx="101772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72040"/>
                </a:solidFill>
                <a:latin typeface="Aptos"/>
              </a:defRPr>
            </a:pPr>
            <a:r>
              <a:rPr dirty="0"/>
              <a:t>Monitor progress continuously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" y="5925312"/>
            <a:ext cx="10561319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6370"/>
                </a:solidFill>
                <a:latin typeface="Aptos"/>
              </a:defRPr>
            </a:pPr>
            <a:r>
              <a:t>Use performance data to identify gaps early and track improvement over time.</a:t>
            </a:r>
          </a:p>
        </p:txBody>
      </p:sp>
      <p:sp>
        <p:nvSpPr>
          <p:cNvPr id="35" name="Oval 34"/>
          <p:cNvSpPr/>
          <p:nvPr/>
        </p:nvSpPr>
        <p:spPr>
          <a:xfrm>
            <a:off x="822960" y="5129783"/>
            <a:ext cx="411480" cy="411480"/>
          </a:xfrm>
          <a:prstGeom prst="ellipse">
            <a:avLst/>
          </a:prstGeom>
          <a:solidFill>
            <a:srgbClr val="CA43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22960" y="5212079"/>
            <a:ext cx="411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6528816"/>
            <a:ext cx="11155680" cy="9144"/>
          </a:xfrm>
          <a:prstGeom prst="rect">
            <a:avLst/>
          </a:prstGeom>
          <a:solidFill>
            <a:srgbClr val="DE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30352" y="6565392"/>
            <a:ext cx="8961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86370"/>
                </a:solidFill>
                <a:latin typeface="Aptos"/>
              </a:defRPr>
            </a:pPr>
            <a:r>
              <a:t>Student Performance Analysis • Syntecxhub Data Analysis Internship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tos"/>
              </a:defRPr>
            </a:pPr>
            <a:r>
              <a:t>FINAL TAKEAWAY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698480" cy="1965960"/>
          </a:xfrm>
          <a:prstGeom prst="roundRect">
            <a:avLst/>
          </a:prstGeom>
          <a:solidFill>
            <a:srgbClr val="10345B"/>
          </a:solidFill>
          <a:ln>
            <a:solidFill>
              <a:srgbClr val="386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3000" y="2267712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300">
                <a:solidFill>
                  <a:srgbClr val="FFFFFF"/>
                </a:solidFill>
                <a:latin typeface="Aptos"/>
              </a:defRPr>
            </a:pPr>
            <a:r>
              <a:t>The dashboard shows that student performance is fairly strong overall, but meaningful differences appear across preparation, lunch type, parental education and other groups.</a:t>
            </a:r>
          </a:p>
          <a:p>
            <a:pPr algn="ctr">
              <a:spcBef>
                <a:spcPts val="1400"/>
              </a:spcBef>
              <a:defRPr sz="1700">
                <a:solidFill>
                  <a:srgbClr val="B9D7F6"/>
                </a:solidFill>
                <a:latin typeface="Aptos"/>
              </a:defRPr>
            </a:pPr>
            <a:r>
              <a:t>The next step is not just to report the differences, but to use them to guide targeted support and better decisions.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663440"/>
            <a:ext cx="8503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82BEF5"/>
                </a:solidFill>
                <a:latin typeface="Aptos"/>
              </a:defRPr>
            </a:pPr>
            <a:r>
              <a:t>BETTER DATA  →  BETTER SUPPORT  →  BETTER STUDENT OUTCOMES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893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AAB8C9"/>
                </a:solidFill>
                <a:latin typeface="Aptos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1277</Words>
  <Application>Microsoft Office PowerPoint</Application>
  <PresentationFormat>Widescreen</PresentationFormat>
  <Paragraphs>223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She_Is_Data</dc:creator>
  <cp:keywords/>
  <dc:description>generated using python-pptx</dc:description>
  <cp:lastModifiedBy>HP</cp:lastModifiedBy>
  <cp:revision>4</cp:revision>
  <dcterms:created xsi:type="dcterms:W3CDTF">2013-01-27T09:14:16Z</dcterms:created>
  <dcterms:modified xsi:type="dcterms:W3CDTF">2026-09-15T18:41:22Z</dcterms:modified>
  <cp:category/>
</cp:coreProperties>
</file>