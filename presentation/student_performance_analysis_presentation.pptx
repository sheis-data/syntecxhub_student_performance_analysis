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STUDENT PERFORMANCE ANALYSIS</a:t>
            </a:r>
          </a:p>
          <a:p>
            <a:pPr>
              <a:spcBef>
                <a:spcPts val="800"/>
              </a:spcBef>
              <a:defRPr sz="2200">
                <a:solidFill>
                  <a:srgbClr val="B9D7F6"/>
                </a:solidFill>
                <a:latin typeface="Aptos"/>
              </a:defRPr>
            </a:pPr>
            <a:r>
              <a:t>Data Analysis Internship 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Aptos"/>
              </a:defRPr>
            </a:pPr>
            <a:r>
              <a:t>Turning student data into practical insights</a:t>
            </a:r>
          </a:p>
          <a:p>
            <a:pPr>
              <a:spcBef>
                <a:spcPts val="800"/>
              </a:spcBef>
              <a:defRPr sz="1400">
                <a:solidFill>
                  <a:srgbClr val="B4C4D6"/>
                </a:solidFill>
                <a:latin typeface="Aptos"/>
              </a:defRPr>
            </a:pPr>
            <a:r>
              <a:t>Power Query • Power BI • Data Storytelling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846320"/>
            <a:ext cx="3017520" cy="566928"/>
          </a:xfrm>
          <a:prstGeom prst="round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992624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SYNTECXHUB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080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C9"/>
                </a:solidFill>
                <a:latin typeface="Aptos"/>
              </a:defRPr>
            </a:pPr>
            <a:r>
              <a:t>Project presentation • 16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What this analysis set out to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74720" cy="1828800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8288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35607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Understand student academic performance and identify patterns across subjects and student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4008" cy="1828800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35607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Excel Power Query for cleaning and Power BI for analysis, DAX measures, visuals and interactive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74720" cy="1828800"/>
          </a:xfrm>
          <a:prstGeom prst="roundRect">
            <a:avLst/>
          </a:prstGeom>
          <a:solidFill>
            <a:srgbClr val="F1EDFA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64008" cy="1828800"/>
          </a:xfrm>
          <a:prstGeom prst="rect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435607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MAIN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A three-page Power BI dashboard covering overview, performance factors, and key insights with recommendations.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66160"/>
            <a:ext cx="2743200" cy="384048"/>
          </a:xfrm>
          <a:prstGeom prst="round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621024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Questions behind the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10332720" cy="1920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831"/>
                </a:solidFill>
                <a:latin typeface="Aptos"/>
              </a:defRPr>
            </a:pPr>
            <a:r>
              <a:t>• Which subject has the strongest average performance?</a:t>
            </a:r>
          </a:p>
          <a:p>
            <a:pPr>
              <a:spcAft>
                <a:spcPts val="700"/>
              </a:spcAft>
              <a:defRPr sz="1500">
                <a:solidFill>
                  <a:srgbClr val="222831"/>
                </a:solidFill>
                <a:latin typeface="Aptos"/>
              </a:defRPr>
            </a:pPr>
            <a:r>
              <a:t>• How are students distributed across performance categories?</a:t>
            </a:r>
          </a:p>
          <a:p>
            <a:pPr>
              <a:spcAft>
                <a:spcPts val="700"/>
              </a:spcAft>
              <a:defRPr sz="1500">
                <a:solidFill>
                  <a:srgbClr val="222831"/>
                </a:solidFill>
                <a:latin typeface="Aptos"/>
              </a:defRPr>
            </a:pPr>
            <a:r>
              <a:t>• Do performance levels differ by gender?</a:t>
            </a:r>
          </a:p>
          <a:p>
            <a:pPr>
              <a:spcAft>
                <a:spcPts val="700"/>
              </a:spcAft>
              <a:defRPr sz="1500">
                <a:solidFill>
                  <a:srgbClr val="222831"/>
                </a:solidFill>
                <a:latin typeface="Aptos"/>
              </a:defRPr>
            </a:pPr>
            <a:r>
              <a:t>• What patterns appear across test preparation, lunch type, parental education and race/ethnicity?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Cleaning was completed before the Power BI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11680" cy="384048"/>
          </a:xfrm>
          <a:prstGeom prst="round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9304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Cleaning workflow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783080"/>
            <a:ext cx="438912" cy="438912"/>
          </a:xfrm>
          <a:prstGeom prst="ellipse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6479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72040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764792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831"/>
                </a:solidFill>
                <a:latin typeface="Aptos"/>
              </a:defRPr>
            </a:pPr>
            <a:r>
              <a:t>Loaded the student performance CSV into Power Query.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651760"/>
            <a:ext cx="438912" cy="438912"/>
          </a:xfrm>
          <a:prstGeom prst="ellipse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2491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334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72040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33472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831"/>
                </a:solidFill>
                <a:latin typeface="Aptos"/>
              </a:defRPr>
            </a:pPr>
            <a:r>
              <a:t>Checked data types, missing values, text consistency and score fields.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520439"/>
            <a:ext cx="438912" cy="438912"/>
          </a:xfrm>
          <a:prstGeom prst="ellipse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9359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02151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72040"/>
                </a:solidFill>
                <a:latin typeface="Aptos"/>
              </a:defRPr>
            </a:pPr>
            <a:r>
              <a:t>Duplicate removal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02151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831"/>
                </a:solidFill>
                <a:latin typeface="Aptos"/>
              </a:defRPr>
            </a:pPr>
            <a:r>
              <a:t>Removed the duplicate record; the cleaned dataset contains 999 students.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389120"/>
            <a:ext cx="438912" cy="438912"/>
          </a:xfrm>
          <a:prstGeom prst="ellipse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6227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7083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72040"/>
                </a:solidFill>
                <a:latin typeface="Aptos"/>
              </a:defRPr>
            </a:pPr>
            <a:r>
              <a:t>Calculated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370832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831"/>
                </a:solidFill>
                <a:latin typeface="Aptos"/>
              </a:defRPr>
            </a:pPr>
            <a:r>
              <a:t>Prepared Average Score and Performance Category for analysis.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257800"/>
            <a:ext cx="438912" cy="438912"/>
          </a:xfrm>
          <a:prstGeom prst="ellipse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3095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3951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72040"/>
                </a:solidFill>
                <a:latin typeface="Aptos"/>
              </a:defRPr>
            </a:pPr>
            <a:r>
              <a:t>Load to 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239512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831"/>
                </a:solidFill>
                <a:latin typeface="Aptos"/>
              </a:defRPr>
            </a:pPr>
            <a:r>
              <a:t>Loaded the cleaned table for DAX calculations and dashboard visuals.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What the Dashboard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The analysis focuses on the fields available in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11680" cy="384048"/>
          </a:xfrm>
          <a:prstGeom prst="round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9304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Performance measures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560320" cy="1325880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4008" cy="132588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8470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MATH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Individual student math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737360"/>
            <a:ext cx="2560320" cy="1325880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737360"/>
            <a:ext cx="64008" cy="1325880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8470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READING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Individual student reading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560320" cy="1325880"/>
          </a:xfrm>
          <a:prstGeom prst="roundRect">
            <a:avLst/>
          </a:prstGeom>
          <a:solidFill>
            <a:srgbClr val="F1EDFA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64008" cy="1325880"/>
          </a:xfrm>
          <a:prstGeom prst="rect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8470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WRITING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Individual student writing result.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737360"/>
            <a:ext cx="2560320" cy="1325880"/>
          </a:xfrm>
          <a:prstGeom prst="roundRect">
            <a:avLst/>
          </a:prstGeom>
          <a:solidFill>
            <a:srgbClr val="FCF1E5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737360"/>
            <a:ext cx="64008" cy="1325880"/>
          </a:xfrm>
          <a:prstGeom prst="rect">
            <a:avLst/>
          </a:prstGeom>
          <a:solidFill>
            <a:srgbClr val="EB7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8470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AVERAGE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Combined average across the three subjects.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474720"/>
            <a:ext cx="2926080" cy="384048"/>
          </a:xfrm>
          <a:prstGeom prst="roundRect">
            <a:avLst/>
          </a:prstGeom>
          <a:solidFill>
            <a:srgbClr val="E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29584"/>
            <a:ext cx="27066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9689"/>
                </a:solidFill>
                <a:latin typeface="Aptos"/>
              </a:defRPr>
            </a:pPr>
            <a:r>
              <a:t>Grouping and comparison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77639"/>
            <a:ext cx="4663440" cy="2011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Gender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Race/Ethnicity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Parental Level of Education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Lunch Type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Test Preparation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3474720"/>
            <a:ext cx="2011680" cy="384048"/>
          </a:xfrm>
          <a:prstGeom prst="roundRect">
            <a:avLst/>
          </a:prstGeom>
          <a:solidFill>
            <a:srgbClr val="F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3529584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456B4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977639"/>
            <a:ext cx="5029200" cy="18288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831"/>
                </a:solidFill>
                <a:latin typeface="Aptos"/>
              </a:defRPr>
            </a:pPr>
            <a:r>
              <a:t>• These fields allow the dashboard to compare performance across different student groups.</a:t>
            </a:r>
          </a:p>
          <a:p>
            <a:pPr>
              <a:spcAft>
                <a:spcPts val="700"/>
              </a:spcAft>
              <a:defRPr sz="1500">
                <a:solidFill>
                  <a:srgbClr val="222831"/>
                </a:solidFill>
                <a:latin typeface="Aptos"/>
              </a:defRPr>
            </a:pPr>
            <a:r>
              <a:t>• The analysis describes patterns in this dataset; it does not claim that any single factor causes the observed differences.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Dashboard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Three pages, each with a clear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74720" cy="3566160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64008" cy="356616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72040"/>
                </a:solidFill>
                <a:latin typeface="Aptos"/>
              </a:defRPr>
            </a:pPr>
            <a:r>
              <a:t>PAGE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06040"/>
            <a:ext cx="32004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KPIs, subject performance, performance categories and gender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402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474720" cy="3566160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64008" cy="3566160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7556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72040"/>
                </a:solidFill>
                <a:latin typeface="Aptos"/>
              </a:defRPr>
            </a:pPr>
            <a:r>
              <a:t>PAGE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606040"/>
            <a:ext cx="32004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Test preparation, parental education, lunch type and race/ethnicity comparisons, with slicers.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2402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Performance Factors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45920"/>
            <a:ext cx="3474720" cy="3566160"/>
          </a:xfrm>
          <a:prstGeom prst="roundRect">
            <a:avLst/>
          </a:prstGeom>
          <a:solidFill>
            <a:srgbClr val="F1EDFA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645920"/>
            <a:ext cx="64008" cy="3566160"/>
          </a:xfrm>
          <a:prstGeom prst="rect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17556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72040"/>
                </a:solidFill>
                <a:latin typeface="Aptos"/>
              </a:defRPr>
            </a:pPr>
            <a:r>
              <a:t>PAGE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606040"/>
            <a:ext cx="32004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Key findings, practical recommendations and the main takeaways from the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2402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Page 1 — Overview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A quick view of the overall student performance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7" name="Picture 6" descr="Screenshot 2026-09-15 011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831" y="1234440"/>
            <a:ext cx="7859856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234440"/>
            <a:ext cx="11155680" cy="5074920"/>
          </a:xfrm>
          <a:prstGeom prst="rect">
            <a:avLst/>
          </a:prstGeom>
          <a:noFill/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Page 1 — What the Overview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The headline numbers from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057400" cy="1325880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32588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35607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TOTAL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1051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971BE"/>
                </a:solidFill>
                <a:latin typeface="Aptos"/>
              </a:defRPr>
            </a:pPr>
            <a:r>
              <a:t>999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325880"/>
            <a:ext cx="2057400" cy="1325880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325880"/>
            <a:ext cx="64008" cy="1325880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435607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OVERALL 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181051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89"/>
                </a:solidFill>
                <a:latin typeface="Aptos"/>
              </a:defRPr>
            </a:pPr>
            <a:r>
              <a:t>67.68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325880"/>
            <a:ext cx="2057400" cy="1325880"/>
          </a:xfrm>
          <a:prstGeom prst="roundRect">
            <a:avLst/>
          </a:prstGeom>
          <a:solidFill>
            <a:srgbClr val="F1EDFA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1325880"/>
            <a:ext cx="64008" cy="1325880"/>
          </a:xfrm>
          <a:prstGeom prst="rect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35607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MATH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181051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7456B4"/>
                </a:solidFill>
                <a:latin typeface="Aptos"/>
              </a:defRPr>
            </a:pPr>
            <a:r>
              <a:t>66.36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325880"/>
            <a:ext cx="2057400" cy="1325880"/>
          </a:xfrm>
          <a:prstGeom prst="roundRect">
            <a:avLst/>
          </a:prstGeom>
          <a:solidFill>
            <a:srgbClr val="FCF1E5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325880"/>
            <a:ext cx="64008" cy="1325880"/>
          </a:xfrm>
          <a:prstGeom prst="rect">
            <a:avLst/>
          </a:prstGeom>
          <a:solidFill>
            <a:srgbClr val="EB7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1435607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READING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181051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B7E27"/>
                </a:solidFill>
                <a:latin typeface="Aptos"/>
              </a:defRPr>
            </a:pPr>
            <a:r>
              <a:t>68.97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325880"/>
            <a:ext cx="2057400" cy="1325880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325880"/>
            <a:ext cx="64008" cy="132588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2" y="1435607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WRITING AVERAGE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181051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971BE"/>
                </a:solidFill>
                <a:latin typeface="Aptos"/>
              </a:defRPr>
            </a:pPr>
            <a:r>
              <a:t>67.71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063240"/>
            <a:ext cx="1828800" cy="384048"/>
          </a:xfrm>
          <a:prstGeom prst="round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118104"/>
            <a:ext cx="16093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66160"/>
            <a:ext cx="10241280" cy="21945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Reading has the highest subject average at 68.97.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Math has the lowest subject average at 66.36.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The gap between the highest and lowest subject averages is about 2.61 points, so subject performance is relatively close.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Female students average 68.92 compared with 66.52 for male students.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Performance Category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How the 999 students are distributed across the performance bands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468880" cy="1417320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4008" cy="141732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27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EXCELLENT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0195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971BE"/>
                </a:solidFill>
                <a:latin typeface="Aptos"/>
              </a:defRPr>
            </a:pPr>
            <a:r>
              <a:t>43.34%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433 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468880" cy="1417320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64008" cy="1417320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527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90195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69689"/>
                </a:solidFill>
                <a:latin typeface="Aptos"/>
              </a:defRPr>
            </a:pPr>
            <a:r>
              <a:t>28.93%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289 students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417320"/>
            <a:ext cx="2468880" cy="1417320"/>
          </a:xfrm>
          <a:prstGeom prst="roundRect">
            <a:avLst/>
          </a:prstGeom>
          <a:solidFill>
            <a:srgbClr val="F1EDFA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64008" cy="1417320"/>
          </a:xfrm>
          <a:prstGeom prst="rect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527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1" y="190195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7456B4"/>
                </a:solidFill>
                <a:latin typeface="Aptos"/>
              </a:defRPr>
            </a:pPr>
            <a:r>
              <a:t>15.72%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157 students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417320"/>
            <a:ext cx="2468880" cy="1417320"/>
          </a:xfrm>
          <a:prstGeom prst="roundRect">
            <a:avLst/>
          </a:prstGeom>
          <a:solidFill>
            <a:srgbClr val="FCEBE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417320"/>
            <a:ext cx="64008" cy="1417320"/>
          </a:xfrm>
          <a:prstGeom prst="rect">
            <a:avLst/>
          </a:prstGeom>
          <a:solidFill>
            <a:srgbClr val="CA4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1527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NEEDS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190195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CA4353"/>
                </a:solidFill>
                <a:latin typeface="Aptos"/>
              </a:defRPr>
            </a:pPr>
            <a:r>
              <a:t>12.01%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120 students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337560"/>
            <a:ext cx="1737360" cy="384048"/>
          </a:xfrm>
          <a:prstGeom prst="roundRect">
            <a:avLst/>
          </a:prstGeom>
          <a:solidFill>
            <a:srgbClr val="FC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392424"/>
            <a:ext cx="1517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E27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40480"/>
            <a:ext cx="10241280" cy="1737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831"/>
                </a:solidFill>
                <a:latin typeface="Aptos"/>
              </a:defRPr>
            </a:pPr>
            <a:r>
              <a:t>• Excellent is the largest category, representing 43.34% of students.</a:t>
            </a:r>
          </a:p>
          <a:p>
            <a:pPr>
              <a:spcAft>
                <a:spcPts val="700"/>
              </a:spcAft>
              <a:defRPr sz="1700">
                <a:solidFill>
                  <a:srgbClr val="222831"/>
                </a:solidFill>
                <a:latin typeface="Aptos"/>
              </a:defRPr>
            </a:pPr>
            <a:r>
              <a:t>• 40.94% of students fall into the Average or Needs Improvement categories.</a:t>
            </a:r>
          </a:p>
          <a:p>
            <a:pPr>
              <a:spcAft>
                <a:spcPts val="700"/>
              </a:spcAft>
              <a:defRPr sz="1700">
                <a:solidFill>
                  <a:srgbClr val="222831"/>
                </a:solidFill>
                <a:latin typeface="Aptos"/>
              </a:defRPr>
            </a:pPr>
            <a:r>
              <a:t>• That lower-performing share is large enough to justify targeted academic support.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Gender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A small but visible difference in overall average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108960" cy="1828800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64008" cy="18288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270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FEMALE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01952"/>
            <a:ext cx="2834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71BE"/>
                </a:solidFill>
                <a:latin typeface="Aptos"/>
              </a:defRPr>
            </a:pPr>
            <a:r>
              <a:t>68.92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7744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Observed overall average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3108960" cy="1828800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417320"/>
            <a:ext cx="64008" cy="1828800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5270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MALE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901952"/>
            <a:ext cx="2834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9689"/>
                </a:solidFill>
                <a:latin typeface="Aptos"/>
              </a:defRPr>
            </a:pPr>
            <a:r>
              <a:t>66.52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37744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Observed overall average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108960" cy="1828800"/>
          </a:xfrm>
          <a:prstGeom prst="roundRect">
            <a:avLst/>
          </a:prstGeom>
          <a:solidFill>
            <a:srgbClr val="F1EDFA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64008" cy="1828800"/>
          </a:xfrm>
          <a:prstGeom prst="rect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5270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OBSERVED DIFFERENCE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1901952"/>
            <a:ext cx="2834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456B4"/>
                </a:solidFill>
                <a:latin typeface="Aptos"/>
              </a:defRPr>
            </a:pPr>
            <a:r>
              <a:t>2.40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37744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Female average is higher by 2.40 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49039"/>
            <a:ext cx="1645920" cy="384048"/>
          </a:xfrm>
          <a:prstGeom prst="round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803903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10058400" cy="16459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Female students recorded a slightly higher average score than male students.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The difference is modest compared with the larger gaps seen for some other factors.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Gender alone does not explain why the difference exists; additional variables would be needed for deeper investigation.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Page 2 — Performance Factors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Moving from 'what is happening?' to 'where do we see differences?'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Screenshot 2026-09-15 0114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35" y="1234440"/>
            <a:ext cx="8819448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234440"/>
            <a:ext cx="11155680" cy="5074920"/>
          </a:xfrm>
          <a:prstGeom prst="rect">
            <a:avLst/>
          </a:prstGeom>
          <a:noFill/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Test Preparation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One of the clearest differences in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200400" cy="1737360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73736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270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01952"/>
            <a:ext cx="2926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71BE"/>
                </a:solidFill>
                <a:latin typeface="Aptos"/>
              </a:defRPr>
            </a:pPr>
            <a:r>
              <a:t>72.75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774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Average score among students who completed test preparation.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200400" cy="1737360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417320"/>
            <a:ext cx="64008" cy="1737360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5270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01952"/>
            <a:ext cx="2926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9689"/>
                </a:solidFill>
                <a:latin typeface="Aptos"/>
              </a:defRPr>
            </a:pPr>
            <a:r>
              <a:t>65.13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774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Average score among students who did not complete test preparation.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3200400" cy="1737360"/>
          </a:xfrm>
          <a:prstGeom prst="roundRect">
            <a:avLst/>
          </a:prstGeom>
          <a:solidFill>
            <a:srgbClr val="FCF1E5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64008" cy="1737360"/>
          </a:xfrm>
          <a:prstGeom prst="rect">
            <a:avLst/>
          </a:prstGeom>
          <a:solidFill>
            <a:srgbClr val="EB7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5270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72040"/>
                </a:solidFill>
                <a:latin typeface="Aptos"/>
              </a:defRPr>
            </a:pPr>
            <a:r>
              <a:t>DIFFERENCE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901952"/>
            <a:ext cx="2926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B7E27"/>
                </a:solidFill>
                <a:latin typeface="Aptos"/>
              </a:defRPr>
            </a:pPr>
            <a:r>
              <a:t>7.62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3774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Observed gap between the two groups.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2011680" cy="384048"/>
          </a:xfrm>
          <a:prstGeom prst="roundRect">
            <a:avLst/>
          </a:prstGeom>
          <a:solidFill>
            <a:srgbClr val="F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758183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456B4"/>
                </a:solidFill>
                <a:latin typeface="Aptos"/>
              </a:defRPr>
            </a:pPr>
            <a:r>
              <a:t>What this suggests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06240"/>
            <a:ext cx="10149840" cy="16459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Students who completed test preparation had the higher average score.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The size of the difference makes test preparation an important area for further attention.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This is an association in the dataset, not proof that test preparation caused the difference.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Lunch Type, Parental Education and Race/Ethnicity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The dashboard also reveals wider group-level performance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1417320" cy="384048"/>
          </a:xfrm>
          <a:prstGeom prst="round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35024"/>
            <a:ext cx="11978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1BE"/>
                </a:solidFill>
                <a:latin typeface="Aptos"/>
              </a:defRPr>
            </a:pPr>
            <a:r>
              <a:t>Lunch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554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Standard: 71.32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Free/Reduced: 60.87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Observed gap: 10.45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1828800" cy="384048"/>
          </a:xfrm>
          <a:prstGeom prst="roundRect">
            <a:avLst/>
          </a:prstGeom>
          <a:solidFill>
            <a:srgbClr val="E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335024"/>
            <a:ext cx="16093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9689"/>
                </a:solidFill>
                <a:latin typeface="Aptos"/>
              </a:defRPr>
            </a:pPr>
            <a:r>
              <a:t>Parental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91840" cy="1554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Master's Degree: 74.34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Some High School: 62.54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Observed range: 11.80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1600200" cy="384048"/>
          </a:xfrm>
          <a:prstGeom prst="roundRect">
            <a:avLst/>
          </a:prstGeom>
          <a:solidFill>
            <a:srgbClr val="F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7" y="1335024"/>
            <a:ext cx="1380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456B4"/>
                </a:solidFill>
                <a:latin typeface="Aptos"/>
              </a:defRPr>
            </a:pPr>
            <a:r>
              <a:t>Race/Ethnicity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291840" cy="1554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Group E: 72.22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Group C: 64.68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Observed gap: 7.54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2103120" cy="384048"/>
          </a:xfrm>
          <a:prstGeom prst="roundRect">
            <a:avLst/>
          </a:prstGeom>
          <a:solidFill>
            <a:srgbClr val="FC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18836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E27"/>
                </a:solidFill>
                <a:latin typeface="Aptos"/>
              </a:defRPr>
            </a:pPr>
            <a:r>
              <a:t>A careful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10424160" cy="16002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These differences show where performance varies across the available groups.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They should be used as signals for further investigation rather than labels about the students themselves.</a:t>
            </a:r>
          </a:p>
          <a:p>
            <a:pPr>
              <a:spcAft>
                <a:spcPts val="7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The dataset does not contain enough information to establish the causes of these gaps.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Key Insights — Putting the Numbers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The strongest patterns from the three dashboard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35640" cy="841248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841248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Reading leads the subjects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94560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Reading has the highest average score at 68.97; Math is lowest at 66.36.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399032"/>
            <a:ext cx="411480" cy="411480"/>
          </a:xfrm>
          <a:prstGeom prst="ellipse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813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67128"/>
            <a:ext cx="10835640" cy="841248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167128"/>
            <a:ext cx="64008" cy="841248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276856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Test preparation stands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127248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Completed preparation is associated with a 7.62-point higher average score.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331720"/>
            <a:ext cx="411480" cy="411480"/>
          </a:xfrm>
          <a:prstGeom prst="ellipse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140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99816"/>
            <a:ext cx="10835640" cy="841248"/>
          </a:xfrm>
          <a:prstGeom prst="roundRect">
            <a:avLst/>
          </a:prstGeom>
          <a:solidFill>
            <a:srgbClr val="FCF1E5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99816"/>
            <a:ext cx="64008" cy="841248"/>
          </a:xfrm>
          <a:prstGeom prst="rect">
            <a:avLst/>
          </a:prstGeom>
          <a:solidFill>
            <a:srgbClr val="EB7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09544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Lunch type shows a large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059936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The Standard group averages 71.32 versus 60.87 for Free/Reduced.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64408"/>
            <a:ext cx="411480" cy="411480"/>
          </a:xfrm>
          <a:prstGeom prst="ellipse">
            <a:avLst/>
          </a:prstGeom>
          <a:solidFill>
            <a:srgbClr val="EB7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467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32504"/>
            <a:ext cx="10835640" cy="841248"/>
          </a:xfrm>
          <a:prstGeom prst="roundRect">
            <a:avLst/>
          </a:prstGeom>
          <a:solidFill>
            <a:srgbClr val="F1EDFA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32504"/>
            <a:ext cx="64008" cy="841248"/>
          </a:xfrm>
          <a:prstGeom prst="rect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142232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Parental education varies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992624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Average scores range from 74.34 to 62.54 across education groups.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197096"/>
            <a:ext cx="411480" cy="411480"/>
          </a:xfrm>
          <a:prstGeom prst="ellipse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79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965192"/>
            <a:ext cx="10835640" cy="841248"/>
          </a:xfrm>
          <a:prstGeom prst="roundRect">
            <a:avLst/>
          </a:prstGeom>
          <a:solidFill>
            <a:srgbClr val="FCEBE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965192"/>
            <a:ext cx="64008" cy="841248"/>
          </a:xfrm>
          <a:prstGeom prst="rect">
            <a:avLst/>
          </a:prstGeom>
          <a:solidFill>
            <a:srgbClr val="CA4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074920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Performance support is still needed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925312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40.94% of students are in Average or Needs Improvement categories.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5129783"/>
            <a:ext cx="411480" cy="411480"/>
          </a:xfrm>
          <a:prstGeom prst="ellipse">
            <a:avLst/>
          </a:prstGeom>
          <a:solidFill>
            <a:srgbClr val="CA4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212079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Page 3 —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A concise summary of what the analysis means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7" name="Picture 6" descr="a_clean_modern_professional_dashboard_style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143000"/>
            <a:ext cx="7955279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040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86370"/>
                </a:solidFill>
                <a:latin typeface="Aptos"/>
              </a:defRPr>
            </a:pPr>
            <a:r>
              <a:t>Practical actions that follow from the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657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7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35640" cy="841248"/>
          </a:xfrm>
          <a:prstGeom prst="roundRect">
            <a:avLst/>
          </a:prstGeom>
          <a:solidFill>
            <a:srgbClr val="E8F2FC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841248"/>
          </a:xfrm>
          <a:prstGeom prst="rect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Expand test preparation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94560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Increase access to structured revision, practice tests, study guides and academic support.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399032"/>
            <a:ext cx="411480" cy="411480"/>
          </a:xfrm>
          <a:prstGeom prst="ellipse">
            <a:avLst/>
          </a:prstGeom>
          <a:solidFill>
            <a:srgbClr val="29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8132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67128"/>
            <a:ext cx="10835640" cy="841248"/>
          </a:xfrm>
          <a:prstGeom prst="roundRect">
            <a:avLst/>
          </a:prstGeom>
          <a:solidFill>
            <a:srgbClr val="E6F7F3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167128"/>
            <a:ext cx="64008" cy="841248"/>
          </a:xfrm>
          <a:prstGeom prst="rect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276856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Target students needing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127248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Use tutoring, mentoring and early intervention for students in lower performance categories.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331720"/>
            <a:ext cx="411480" cy="411480"/>
          </a:xfrm>
          <a:prstGeom prst="ellipse">
            <a:avLst/>
          </a:prstGeom>
          <a:solidFill>
            <a:srgbClr val="26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140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99816"/>
            <a:ext cx="10835640" cy="841248"/>
          </a:xfrm>
          <a:prstGeom prst="roundRect">
            <a:avLst/>
          </a:prstGeom>
          <a:solidFill>
            <a:srgbClr val="F1EDFA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99816"/>
            <a:ext cx="64008" cy="841248"/>
          </a:xfrm>
          <a:prstGeom prst="rect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09544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Investigate performance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059936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Explore the factors behind lunch and demographic differences instead of assuming causation.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64408"/>
            <a:ext cx="411480" cy="411480"/>
          </a:xfrm>
          <a:prstGeom prst="ellipse">
            <a:avLst/>
          </a:prstGeom>
          <a:solidFill>
            <a:srgbClr val="74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467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32504"/>
            <a:ext cx="10835640" cy="841248"/>
          </a:xfrm>
          <a:prstGeom prst="roundRect">
            <a:avLst/>
          </a:prstGeom>
          <a:solidFill>
            <a:srgbClr val="FCF1E5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32504"/>
            <a:ext cx="64008" cy="841248"/>
          </a:xfrm>
          <a:prstGeom prst="rect">
            <a:avLst/>
          </a:prstGeom>
          <a:solidFill>
            <a:srgbClr val="EB7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142232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Strengthen mathematics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992624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Provide additional practice, targeted assistance and problem-solving sessions in Math.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197096"/>
            <a:ext cx="411480" cy="411480"/>
          </a:xfrm>
          <a:prstGeom prst="ellipse">
            <a:avLst/>
          </a:prstGeom>
          <a:solidFill>
            <a:srgbClr val="EB7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79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965192"/>
            <a:ext cx="10835640" cy="841248"/>
          </a:xfrm>
          <a:prstGeom prst="roundRect">
            <a:avLst/>
          </a:prstGeom>
          <a:solidFill>
            <a:srgbClr val="FCEBE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965192"/>
            <a:ext cx="64008" cy="841248"/>
          </a:xfrm>
          <a:prstGeom prst="rect">
            <a:avLst/>
          </a:prstGeom>
          <a:solidFill>
            <a:srgbClr val="CA4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074920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040"/>
                </a:solidFill>
                <a:latin typeface="Aptos"/>
              </a:defRPr>
            </a:pPr>
            <a:r>
              <a:t>Monitor progress continuously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925312"/>
            <a:ext cx="10561319" cy="-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370"/>
                </a:solidFill>
                <a:latin typeface="Aptos"/>
              </a:defRPr>
            </a:pPr>
            <a:r>
              <a:t>Use performance data to identify gaps early and track improvement over time.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5129783"/>
            <a:ext cx="411480" cy="411480"/>
          </a:xfrm>
          <a:prstGeom prst="ellipse">
            <a:avLst/>
          </a:prstGeom>
          <a:solidFill>
            <a:srgbClr val="CA4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212079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28816"/>
            <a:ext cx="11155680" cy="9144"/>
          </a:xfrm>
          <a:prstGeom prst="rect">
            <a:avLst/>
          </a:prstGeom>
          <a:solidFill>
            <a:srgbClr val="DE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65392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370"/>
                </a:solidFill>
                <a:latin typeface="Aptos"/>
              </a:defRPr>
            </a:pPr>
            <a:r>
              <a:t>Student Performance Analysis • Syntecxhub Data Analysis Internship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965960"/>
          </a:xfrm>
          <a:prstGeom prst="roundRect">
            <a:avLst/>
          </a:prstGeom>
          <a:solidFill>
            <a:srgbClr val="10345B"/>
          </a:solidFill>
          <a:ln>
            <a:solidFill>
              <a:srgbClr val="38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67712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>
                <a:solidFill>
                  <a:srgbClr val="FFFFFF"/>
                </a:solidFill>
                <a:latin typeface="Aptos"/>
              </a:defRPr>
            </a:pPr>
            <a:r>
              <a:t>The dashboard shows that student performance is fairly strong overall, but meaningful differences appear across preparation, lunch type, parental education and other groups.</a:t>
            </a:r>
          </a:p>
          <a:p>
            <a:pPr algn="ctr">
              <a:spcBef>
                <a:spcPts val="1400"/>
              </a:spcBef>
              <a:defRPr sz="1700">
                <a:solidFill>
                  <a:srgbClr val="B9D7F6"/>
                </a:solidFill>
                <a:latin typeface="Aptos"/>
              </a:defRPr>
            </a:pPr>
            <a:r>
              <a:t>The next step is not just to report the differences, but to use them to guide targeted support and better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82BEF5"/>
                </a:solidFill>
                <a:latin typeface="Aptos"/>
              </a:defRPr>
            </a:pPr>
            <a:r>
              <a:t>BETTER DATA  →  BETTER SUPPORT  →  BETTER STUDENT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B8C9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